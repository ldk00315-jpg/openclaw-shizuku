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4000" y="2088000"/>
            <a:ext cx="8964000" cy="10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Noto Sans CJK JP"/>
                <a:ea typeface="Noto Sans CJK JP"/>
              </a:rPr>
              <a:t>駒ヶ根AI実践シェア会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3312000"/>
            <a:ext cx="896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0E0E0"/>
                </a:solidFill>
                <a:latin typeface="Noto Sans CJK JP"/>
                <a:ea typeface="Noto Sans CJK JP"/>
              </a:rPr>
              <a:t>成果より、まず「やってみた」を持ち寄る会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4248000"/>
            <a:ext cx="896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D4FF"/>
                </a:solidFill>
                <a:latin typeface="Noto Sans CJK JP"/>
                <a:ea typeface="Noto Sans CJK JP"/>
              </a:rPr>
              <a:t>第1回：2026年4月（日程調整中）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79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今日の流れ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800000"/>
            <a:ext cx="9396000" cy="3060000"/>
          </a:xfrm>
          <a:prstGeom prst="roundRect">
            <a:avLst/>
          </a:prstGeom>
          <a:solidFill>
            <a:srgbClr val="1B2838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2592000"/>
            <a:ext cx="324000" cy="324000"/>
          </a:xfrm>
          <a:prstGeom prst="round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  <a:latin typeface="Noto Sans CJK JP"/>
                <a:ea typeface="Noto Sans CJK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2000" y="2556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E0E0E0"/>
                </a:solidFill>
                <a:latin typeface="Noto Sans CJK JP"/>
                <a:ea typeface="Noto Sans CJK JP"/>
              </a:rPr>
              <a:t>チェックイン
自己紹介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0000" y="2628000"/>
            <a:ext cx="14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D4FF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4000" y="2592000"/>
            <a:ext cx="324000" cy="324000"/>
          </a:xfrm>
          <a:prstGeom prst="round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  <a:latin typeface="Noto Sans CJK JP"/>
                <a:ea typeface="Noto Sans CJK JP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0" y="2556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E0E0E0"/>
                </a:solidFill>
                <a:latin typeface="Noto Sans CJK JP"/>
                <a:ea typeface="Noto Sans CJK JP"/>
              </a:rPr>
              <a:t>トーク
体験共有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8000" y="2628000"/>
            <a:ext cx="14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D4FF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72000" y="2592000"/>
            <a:ext cx="324000" cy="324000"/>
          </a:xfrm>
          <a:prstGeom prst="round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  <a:latin typeface="Noto Sans CJK JP"/>
                <a:ea typeface="Noto Sans CJK JP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8000" y="2556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E0E0E0"/>
                </a:solidFill>
                <a:latin typeface="Noto Sans CJK JP"/>
                <a:ea typeface="Noto Sans CJK JP"/>
              </a:rPr>
              <a:t>グループ
ワーク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96000" y="2628000"/>
            <a:ext cx="14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D4FF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0000" y="2592000"/>
            <a:ext cx="324000" cy="324000"/>
          </a:xfrm>
          <a:prstGeom prst="round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  <a:latin typeface="Noto Sans CJK JP"/>
                <a:ea typeface="Noto Sans CJK JP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6000" y="2556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E0E0E0"/>
                </a:solidFill>
                <a:latin typeface="Noto Sans CJK JP"/>
                <a:ea typeface="Noto Sans CJK JP"/>
              </a:rPr>
              <a:t>まとめ
次回予告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378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80000"/>
            <a:ext cx="10692000" cy="37800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2880000"/>
            <a:ext cx="9108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CJK JP"/>
                <a:ea typeface="Noto Sans CJK JP"/>
              </a:rPr>
              <a:t>AIチャットとは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AIチャットの基本と使い方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52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・質問を入力すると、AIが回答を生成
・ChatGPT、Gemini、Claude などが代表的
・スマホでもPCでも使える
・「完璧な質問」じゃなくてOK、気軽に聞いてみよう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身近なAI活用事例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52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・メール文面の作成・添削
・議事録の要約
・チラシやSNS投稿の文案
・翻訳・言い換え
・アイデア出しの壁打ち相手
※このチラシもAIエージェント（しずく）が作成しました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378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80000"/>
            <a:ext cx="10692000" cy="37800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2880000"/>
            <a:ext cx="9108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CJK JP"/>
                <a:ea typeface="Noto Sans CJK JP"/>
              </a:rPr>
              <a:t>AIエージェントとは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Web型 vs ローカル型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4536000" cy="5220000"/>
          </a:xfrm>
          <a:prstGeom prst="roundRect">
            <a:avLst/>
          </a:prstGeom>
          <a:solidFill>
            <a:srgbClr val="1B2838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1512000"/>
            <a:ext cx="410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Noto Sans CJK JP"/>
                <a:ea typeface="Noto Sans CJK JP"/>
              </a:rPr>
              <a:t>Web型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2016000"/>
            <a:ext cx="4104000" cy="4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E0E0E0"/>
                </a:solidFill>
                <a:latin typeface="Noto Sans CJK JP"/>
                <a:ea typeface="Noto Sans CJK JP"/>
              </a:rPr>
              <a:t>・ブラウザで動作
・すぐ使える
・例：ChatGPT、Gemini
・インターネット接続が必要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08000" y="1224000"/>
            <a:ext cx="4536000" cy="5220000"/>
          </a:xfrm>
          <a:prstGeom prst="roundRect">
            <a:avLst/>
          </a:prstGeom>
          <a:solidFill>
            <a:srgbClr val="1B2838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24000" y="1512000"/>
            <a:ext cx="410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Noto Sans CJK JP"/>
                <a:ea typeface="Noto Sans CJK JP"/>
              </a:rPr>
              <a:t>ローカル型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4000" y="2016000"/>
            <a:ext cx="4104000" cy="4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E0E0E0"/>
                </a:solidFill>
                <a:latin typeface="Noto Sans CJK JP"/>
                <a:ea typeface="Noto Sans CJK JP"/>
              </a:rPr>
              <a:t>・自分のPCで動作
・データが外に出ない
・例：OpenClaw、Ollama
・初期設定が必要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AIエージェントで出来ること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52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・ファイル作成（文書、スライド、表）
・情報の検索・整理
・定型作業の自動化
・スケジュール管理の補助
・コードの生成・修正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378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80000"/>
            <a:ext cx="10692000" cy="37800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2880000"/>
            <a:ext cx="9108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CJK JP"/>
                <a:ea typeface="Noto Sans CJK JP"/>
              </a:rPr>
              <a:t>OpenClaw実践
（初級編）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OpenClawデモ — このチラシができるまで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52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1. Telegramでしずく（AIエージェント）に指示
2. python-pptxでPPTX生成スクリプトを作成
3. テンプレート生成 → コンテンツ注入の2段階
4. 検証 → 修正 → 再生成のサイクル
5. 完成品をTelegram＋メールで自動送信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「AIでこれやってみよう」ワーク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52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スマホでAIチャットを開いてみましょう！
お題：
・自分の仕事の悩みをAIに相談してみよう
・来週のメール文面を下書きしてもらおう
・好きな料理のアレンジレシピを聞いてみよう
5分間、自由に試してみてください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AIとの付き合い方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52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・AIの回答は必ずしも正確ではない（ハルシネーション）
・個人情報・機密情報は入力しない
・著作権のある文章をそのままコピペしない
・「便利なアシスタント」として使う、丸投げしない
・知っておけば怖くない、まず使ってみよう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まとめ・次回予告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43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・AIは「まず触ってみる」が一番の近道
・失敗OK、試行錯誤を楽しもう
・次回も体験シェアをお待ちしています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5760000"/>
            <a:ext cx="9396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39FF14"/>
                </a:solidFill>
                <a:latin typeface="Noto Sans CJK JP"/>
                <a:ea typeface="Noto Sans CJK JP"/>
              </a:rPr>
              <a:t>お問い合わせ：valuegarage@gmail.com / 主催：南信AI実践会 協力：駒ヶ根商工会議所（予定）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