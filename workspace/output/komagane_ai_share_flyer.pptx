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432000"/>
            <a:ext cx="6696000" cy="1800000"/>
          </a:xfrm>
          <a:prstGeom prst="rect">
            <a:avLst/>
          </a:prstGeom>
          <a:solidFill>
            <a:srgbClr val="E8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CJK JP"/>
                <a:ea typeface="Noto Sans CJK JP"/>
              </a:rPr>
              <a:t>駒ヶ根AI実践シェア会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Noto Sans CJK JP"/>
                <a:ea typeface="Noto Sans CJK JP"/>
              </a:rPr>
              <a:t>成果より、まず「やってみた」を持ち寄る会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2000" y="2268000"/>
            <a:ext cx="6696000" cy="0"/>
          </a:xfrm>
          <a:prstGeom prst="line">
            <a:avLst/>
          </a:prstGeom>
          <a:ln>
            <a:solidFill>
              <a:srgbClr val="F5C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32000" y="2304000"/>
            <a:ext cx="6696000" cy="1980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4000" y="2484000"/>
            <a:ext cx="162000" cy="162000"/>
          </a:xfrm>
          <a:prstGeom prst="roundRect">
            <a:avLst/>
          </a:prstGeom>
          <a:solidFill>
            <a:srgbClr val="6BB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6408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8823A"/>
                </a:solidFill>
                <a:latin typeface="Noto Sans CJK JP"/>
                <a:ea typeface="Noto Sans CJK JP"/>
              </a:rPr>
              <a:t>こんな会です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808000"/>
            <a:ext cx="6336000" cy="140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Noto Sans CJK JP"/>
                <a:ea typeface="Noto Sans CJK JP"/>
              </a:rPr>
              <a:t>AIを使ってみた体験を気軽にシェアする場です。
専門知識は不要。「こんなの試してみた」「うまくいかなかった」
そんな話が一番盛り上がります。個人・小規模事業者の方、大歓迎。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2000" y="4320000"/>
            <a:ext cx="6696000" cy="0"/>
          </a:xfrm>
          <a:prstGeom prst="line">
            <a:avLst/>
          </a:prstGeom>
          <a:ln>
            <a:solidFill>
              <a:srgbClr val="F5C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32000" y="4356000"/>
            <a:ext cx="6696000" cy="1800000"/>
          </a:xfrm>
          <a:prstGeom prst="rect">
            <a:avLst/>
          </a:prstGeom>
          <a:solidFill>
            <a:srgbClr val="EA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000" y="4464000"/>
            <a:ext cx="65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8823A"/>
                </a:solidFill>
                <a:latin typeface="Noto Sans CJK JP"/>
                <a:ea typeface="Noto Sans CJK JP"/>
              </a:rPr>
              <a:t>初回のイメージ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" y="4896000"/>
            <a:ext cx="288000" cy="288000"/>
          </a:xfrm>
          <a:prstGeom prst="roundRect">
            <a:avLst/>
          </a:prstGeom>
          <a:solidFill>
            <a:srgbClr val="6BB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  <a:ea typeface="Noto Sans CJK JP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000" y="4878000"/>
            <a:ext cx="109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Noto Sans CJK JP"/>
                <a:ea typeface="Noto Sans CJK JP"/>
              </a:rPr>
              <a:t>チェックイン
自己紹介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4800" y="4939200"/>
            <a:ext cx="7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BB77B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2000" y="4896000"/>
            <a:ext cx="288000" cy="288000"/>
          </a:xfrm>
          <a:prstGeom prst="roundRect">
            <a:avLst/>
          </a:prstGeom>
          <a:solidFill>
            <a:srgbClr val="6BB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  <a:ea typeface="Noto Sans CJK JP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4000" y="4878000"/>
            <a:ext cx="109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Noto Sans CJK JP"/>
                <a:ea typeface="Noto Sans CJK JP"/>
              </a:rPr>
              <a:t>トーク
体験共有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800" y="4939200"/>
            <a:ext cx="7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BB77B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0" y="4896000"/>
            <a:ext cx="288000" cy="288000"/>
          </a:xfrm>
          <a:prstGeom prst="roundRect">
            <a:avLst/>
          </a:prstGeom>
          <a:solidFill>
            <a:srgbClr val="6BB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  <a:ea typeface="Noto Sans CJK JP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42000" y="4878000"/>
            <a:ext cx="109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Noto Sans CJK JP"/>
                <a:ea typeface="Noto Sans CJK JP"/>
              </a:rPr>
              <a:t>グループ
ワーク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0800" y="4939200"/>
            <a:ext cx="7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BB77B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48000" y="4896000"/>
            <a:ext cx="288000" cy="288000"/>
          </a:xfrm>
          <a:prstGeom prst="roundRect">
            <a:avLst/>
          </a:prstGeom>
          <a:solidFill>
            <a:srgbClr val="6BB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  <a:ea typeface="Noto Sans CJK JP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90000" y="4878000"/>
            <a:ext cx="109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Noto Sans CJK JP"/>
                <a:ea typeface="Noto Sans CJK JP"/>
              </a:rPr>
              <a:t>まとめ
次回予告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" y="6192000"/>
            <a:ext cx="6696000" cy="0"/>
          </a:xfrm>
          <a:prstGeom prst="line">
            <a:avLst/>
          </a:prstGeom>
          <a:ln>
            <a:solidFill>
              <a:srgbClr val="F5C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32000" y="6228000"/>
            <a:ext cx="6696000" cy="1620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6372000"/>
            <a:ext cx="65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8823A"/>
                </a:solidFill>
                <a:latin typeface="Noto Sans CJK JP"/>
                <a:ea typeface="Noto Sans CJK JP"/>
              </a:rPr>
              <a:t>この会で目指すこと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6696000"/>
            <a:ext cx="64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6BB77B"/>
                </a:solidFill>
                <a:latin typeface="Noto Sans CJK JP"/>
                <a:ea typeface="Noto Sans CJK JP"/>
              </a:rPr>
              <a:t>● AIを身近に感じる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BB77B"/>
                </a:solidFill>
                <a:latin typeface="Noto Sans CJK JP"/>
                <a:ea typeface="Noto Sans CJK JP"/>
              </a:rPr>
              <a:t>● 失敗も含めて共有できる安心の場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BB77B"/>
                </a:solidFill>
                <a:latin typeface="Noto Sans CJK JP"/>
                <a:ea typeface="Noto Sans CJK JP"/>
              </a:rPr>
              <a:t>● 地域のAI仲間をつくる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6BB77B"/>
                </a:solidFill>
                <a:latin typeface="Noto Sans CJK JP"/>
                <a:ea typeface="Noto Sans CJK JP"/>
              </a:rPr>
              <a:t>● 小さな一歩を応援し合う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2000" y="7884000"/>
            <a:ext cx="6696000" cy="0"/>
          </a:xfrm>
          <a:prstGeom prst="line">
            <a:avLst/>
          </a:prstGeom>
          <a:ln>
            <a:solidFill>
              <a:srgbClr val="F5C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32000" y="7920000"/>
            <a:ext cx="6696000" cy="1260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000" y="8028000"/>
            <a:ext cx="6552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8823A"/>
                </a:solidFill>
                <a:latin typeface="Noto Sans CJK JP"/>
                <a:ea typeface="Noto Sans CJK JP"/>
              </a:rPr>
              <a:t>場のルール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00" y="8280000"/>
            <a:ext cx="6480000" cy="82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E8823A"/>
                </a:solidFill>
                <a:latin typeface="Noto Sans CJK JP"/>
                <a:ea typeface="Noto Sans CJK JP"/>
              </a:rPr>
              <a:t>● 否定しない、まず聴く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E8823A"/>
                </a:solidFill>
                <a:latin typeface="Noto Sans CJK JP"/>
                <a:ea typeface="Noto Sans CJK JP"/>
              </a:rPr>
              <a:t>● 専門用語より体験談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E8823A"/>
                </a:solidFill>
                <a:latin typeface="Noto Sans CJK JP"/>
                <a:ea typeface="Noto Sans CJK JP"/>
              </a:rPr>
              <a:t>● SNS投稿は本人の許可を得て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E8823A"/>
                </a:solidFill>
                <a:latin typeface="Noto Sans CJK JP"/>
                <a:ea typeface="Noto Sans CJK JP"/>
              </a:rPr>
              <a:t>● 楽しむことが最優先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32000" y="9216000"/>
            <a:ext cx="6696000" cy="0"/>
          </a:xfrm>
          <a:prstGeom prst="line">
            <a:avLst/>
          </a:prstGeom>
          <a:ln>
            <a:solidFill>
              <a:srgbClr val="F5C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32000" y="9252000"/>
            <a:ext cx="6696000" cy="126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00" y="9432000"/>
            <a:ext cx="3214080" cy="9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Noto Sans CJK JP"/>
                <a:ea typeface="Noto Sans CJK JP"/>
              </a:rPr>
              <a:t>主催：南信AI実践会</a:t>
            </a:r>
          </a:p>
          <a:p>
            <a:r>
              <a:rPr sz="900" b="0">
                <a:solidFill>
                  <a:srgbClr val="FFFFFF"/>
                </a:solidFill>
                <a:latin typeface="Noto Sans CJK JP"/>
                <a:ea typeface="Noto Sans CJK JP"/>
              </a:rPr>
              <a:t>協力：駒ヶ根商工会議所（予定）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13920" y="9432000"/>
            <a:ext cx="2946240" cy="9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JP"/>
                <a:ea typeface="Noto Sans CJK JP"/>
              </a:rPr>
              <a:t>第1回：2026年4月（日程調整中）
会場：駒ヶ根市内（調整中）</a:t>
            </a:r>
          </a:p>
          <a:p>
            <a:pPr algn="r"/>
            <a:r>
              <a:rPr sz="900" b="0">
                <a:solidFill>
                  <a:srgbClr val="FFFFFF"/>
                </a:solidFill>
                <a:latin typeface="Noto Sans CJK JP"/>
                <a:ea typeface="Noto Sans CJK JP"/>
              </a:rPr>
              <a:t>お問い合わせ：valuegarage@gmail.com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